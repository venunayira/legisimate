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venunayira/LegisiMate" TargetMode="External"/><Relationship Id="rId6" Type="http://schemas.openxmlformats.org/officeDocument/2006/relationships/hyperlink" Target="https://youtu.be/-pd5MmUemtE" TargetMode="External"/><Relationship Id="rId7" Type="http://schemas.openxmlformats.org/officeDocument/2006/relationships/hyperlink" Target="https://legisimate-587527883402.europe-west1.run.app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800" b="0">
                <a:solidFill>
                  <a:srgbClr val="202124"/>
                </a:solidFill>
                <a:latin typeface="Google Sans Flex"/>
              </a:rPr>
              <a:t>LegisiMate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800" b="0">
                <a:solidFill>
                  <a:srgbClr val="202124"/>
                </a:solidFill>
                <a:latin typeface="Google Sans Flex"/>
              </a:rPr>
              <a:t>Vachaspati Goutam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800" b="0">
                <a:solidFill>
                  <a:srgbClr val="202124"/>
                </a:solidFill>
                <a:latin typeface="Google Sans Flex"/>
              </a:rPr>
              <a:t>Accessible, evidence-backed legal case preparation (Social Good)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20040" y="1261872"/>
            <a:ext cx="525780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02124"/>
                </a:solidFill>
                <a:latin typeface="Google Sans Flex Medium"/>
              </a:rPr>
              <a:t>LegisiMate turns a person's case facts into an evidence-backed preparation file before they meet an advocate.</a:t>
            </a:r>
          </a:p>
          <a:p>
            <a:pPr algn="l" marL="201168" indent="-201168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 SemiBold"/>
              </a:rPr>
              <a:t>Problem: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in Indian cheque-dishonour cases (Section 138, NI Act), strict statutory clocks, missing proof of notice and confused dates decide cases long before any argument. Generic chatbots guess dates and invent citations.</a:t>
            </a:r>
          </a:p>
          <a:p>
            <a:pPr algn="l" marL="201168" indent="-201168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 SemiBold"/>
              </a:rPr>
              <a:t>Solution: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deadlines are checked in code, Gemini on Vertex AI researches a local corpus of Indian law, three independent mock hearings test both sides, and a readiness brief lists what to collect and what to ask.</a:t>
            </a:r>
          </a:p>
          <a:p>
            <a:pPr algn="l" marL="201168" indent="-201168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 SemiBold"/>
              </a:rPr>
              <a:t>For: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individuals, small businesses (MSMEs), junior advocates, law students and legal-aid clinics.</a:t>
            </a:r>
          </a:p>
          <a:p>
            <a:pPr algn="l" marL="201168" indent="-201168">
              <a:spcAft>
                <a:spcPts val="4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 SemiBold"/>
              </a:rPr>
              <a:t>Boundaries: </a:t>
            </a:r>
            <a:r>
              <a:rPr sz="1150" b="0">
                <a:solidFill>
                  <a:srgbClr val="202124"/>
                </a:solidFill>
                <a:latin typeface="Google Sans Flex"/>
              </a:rPr>
              <a:t>preparation support, not legal advice. No verdict prediction; missing facts stay visibly missing.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806440" y="1325880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A73E8"/>
                </a:solidFill>
                <a:latin typeface="Google Sans Flex SemiBold"/>
              </a:rPr>
              <a:t>7,143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statutory provisions indexed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06440" y="2313432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88038"/>
                </a:solidFill>
                <a:latin typeface="Google Sans Flex SemiBold"/>
              </a:rPr>
              <a:t>1,600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judgments / 10,139 searchable chunks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06440" y="3300984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E37400"/>
                </a:solidFill>
                <a:latin typeface="Google Sans Flex SemiBold"/>
              </a:rPr>
              <a:t>3 x 22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independent hearing paths x statements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06440" y="4297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Proof of concept: one Indian case type. Vision: constitutions, legislation and case law for every country with a constitution.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201168" indent="-201168">
              <a:spcBef>
                <a:spcPts val="600"/>
              </a:spcBef>
              <a:buFont typeface="Google Sans Flex"/>
              <a:buChar char="●"/>
            </a:pPr>
            <a:r>
              <a:rPr sz="1300" b="0">
                <a:solidFill>
                  <a:srgbClr val="202124"/>
                </a:solidFill>
                <a:latin typeface="Google Sans Flex SemiBold"/>
              </a:rPr>
              <a:t>How different is it from any of the other existing ideas?</a:t>
            </a:r>
          </a:p>
          <a:p>
            <a:pPr marL="201168">
              <a:spcAft>
                <a:spcPts val="200"/>
              </a:spcAft>
            </a:pPr>
            <a:r>
              <a:rPr sz="1150" b="0">
                <a:solidFill>
                  <a:srgbClr val="5F6368"/>
                </a:solidFill>
                <a:latin typeface="Google Sans Flex"/>
              </a:rPr>
              <a:t>Legal chatbots answer from model memory, guess dates and can invent citations. LegisiMate splits the work: code computes every statutory deadline, the model may only quote passages it retrieved, and the server attaches and verifies the exact source text. Unknown facts are never filled in.</a:t>
            </a:r>
          </a:p>
          <a:p>
            <a:pPr marL="201168" indent="-201168">
              <a:spcBef>
                <a:spcPts val="600"/>
              </a:spcBef>
              <a:buFont typeface="Google Sans Flex"/>
              <a:buChar char="●"/>
            </a:pPr>
            <a:r>
              <a:rPr sz="1300" b="0">
                <a:solidFill>
                  <a:srgbClr val="202124"/>
                </a:solidFill>
                <a:latin typeface="Google Sans Flex SemiBold"/>
              </a:rPr>
              <a:t>How will it be able to solve the problem?</a:t>
            </a:r>
          </a:p>
          <a:p>
            <a:pPr marL="201168">
              <a:spcAft>
                <a:spcPts val="200"/>
              </a:spcAft>
            </a:pPr>
            <a:r>
              <a:rPr sz="1150" b="0">
                <a:solidFill>
                  <a:srgbClr val="5F6368"/>
                </a:solidFill>
                <a:latin typeface="Google Sans Flex"/>
              </a:rPr>
              <a:t>A guided intake separates confirmed from unconfirmed dates; a bounded research agent finds statutes and precedents; three fresh-memory hearings test the case from both sides; the brief lists missing evidence, next steps and questions for an advocate. Users arrive at a consultation with a better file.</a:t>
            </a:r>
          </a:p>
          <a:p>
            <a:pPr marL="201168" indent="-201168">
              <a:spcBef>
                <a:spcPts val="600"/>
              </a:spcBef>
              <a:buFont typeface="Google Sans Flex"/>
              <a:buChar char="●"/>
            </a:pPr>
            <a:r>
              <a:rPr sz="1300" b="0">
                <a:solidFill>
                  <a:srgbClr val="202124"/>
                </a:solidFill>
                <a:latin typeface="Google Sans Flex SemiBold"/>
              </a:rPr>
              <a:t>USP of the proposed solution</a:t>
            </a:r>
          </a:p>
          <a:p>
            <a:pPr marL="201168">
              <a:spcAft>
                <a:spcPts val="200"/>
              </a:spcAft>
            </a:pPr>
            <a:r>
              <a:rPr sz="1150" b="0">
                <a:solidFill>
                  <a:srgbClr val="5F6368"/>
                </a:solidFill>
                <a:latin typeface="Google Sans Flex"/>
              </a:rPr>
              <a:t>Source-verified, adversarially rehearsed preparation instead of a verdict. Every quote is traceable, every date rule is code, and a 'chance of winning' is deliberately absent.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20040" y="12984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Guided intake and tour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Six-step tour on a fictional sample. Consent required before any AI call.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617720" y="12984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Deterministic calendar review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30-day notice, 15-day payment window, one calendar month to file. Missing dates stay unresolved.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20040" y="22128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Agentic legal research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Gemini chooses statute and precedent searches, source reads and deadline checks (max 4 steps).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17720" y="22128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Local legal RAG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SQLite FTS5 index of 7,143 provisions and 10,139 chunks from the SC, Delhi HC and Bombay HC.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040" y="31272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Three mock hearings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Magistrate, counsel, parties, witnesses and juniors: openings, cross-examination, rebuttals, assessment.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17720" y="31272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Source-bound quotations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Model cites passage IDs; the server attaches the exact corpus text and checks the match.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0040" y="40416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Decision tree and courtroom replay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Explore each path by hearing stage; 2.5D replay with play, pause, speed and reduced motion.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617720" y="4041648"/>
            <a:ext cx="4160520" cy="804672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Readiness brief and export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Evidence to collect, next steps, questions for an advocate, settlement options; Markdown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20040" y="1371600"/>
            <a:ext cx="1481328" cy="6858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1  Case facts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040" y="2121408"/>
            <a:ext cx="1481328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Anonymised facts, dates, records and notes. User consent.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040" y="301752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A73E8"/>
                </a:solidFill>
                <a:latin typeface="Google Sans Flex Medium"/>
              </a:rPr>
              <a:t>User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1833372" y="1613916"/>
            <a:ext cx="256032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121408" y="1371600"/>
            <a:ext cx="1481328" cy="6858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2  Calendar check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21408" y="2121408"/>
            <a:ext cx="1481328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Statutory periods computed in code. Unknown stays unknown.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21408" y="301752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88038"/>
                </a:solidFill>
                <a:latin typeface="Google Sans Flex Medium"/>
              </a:rPr>
              <a:t>Code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3634740" y="1613916"/>
            <a:ext cx="256032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922776" y="1371600"/>
            <a:ext cx="1481328" cy="6858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3  Research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22776" y="2121408"/>
            <a:ext cx="1481328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Gemini picks searches; the local corpus returns sources.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22776" y="301752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A73E8"/>
                </a:solidFill>
                <a:latin typeface="Google Sans Flex Medium"/>
              </a:rPr>
              <a:t>Gemini + RAG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5436108" y="1613916"/>
            <a:ext cx="256032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724144" y="1371600"/>
            <a:ext cx="1481328" cy="6858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4  Rehearsal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24144" y="2121408"/>
            <a:ext cx="1481328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3 independent hearings, fresh memory per path, quotes verified.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301752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E37400"/>
                </a:solidFill>
                <a:latin typeface="Google Sans Flex Medium"/>
              </a:rPr>
              <a:t>Gemini + checks</a:t>
            </a:r>
          </a:p>
        </p:txBody>
      </p:sp>
      <p:sp>
        <p:nvSpPr>
          <p:cNvPr id="111" name="Right Arrow 110"/>
          <p:cNvSpPr/>
          <p:nvPr/>
        </p:nvSpPr>
        <p:spPr>
          <a:xfrm>
            <a:off x="7237476" y="1613916"/>
            <a:ext cx="256032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525512" y="1371600"/>
            <a:ext cx="1481328" cy="6858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5  Readiness brief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25512" y="2121408"/>
            <a:ext cx="1481328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Evidence to collect, next steps, advocate questions, export.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25512" y="301752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D93025"/>
                </a:solidFill>
                <a:latin typeface="Google Sans Flex Medium"/>
              </a:rPr>
              <a:t>Output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20040" y="3520440"/>
            <a:ext cx="850392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Use case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A small textile supplier holds a dishonoured cheque for unpaid invoices. Before paying for a consultation, they check whether the demand-notice and complaint dates still work, see which proof of service is missing, rehearse what the drawer's counsel will argue, and leave with a checklist and questions for their advocate.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samp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325880"/>
            <a:ext cx="4160520" cy="234029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320040" y="3684459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Case details: dates, records and live calendar review</a:t>
            </a:r>
          </a:p>
        </p:txBody>
      </p:sp>
      <p:pic>
        <p:nvPicPr>
          <p:cNvPr id="106" name="Picture 105" descr="tou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325880"/>
            <a:ext cx="4160520" cy="234029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4663440" y="3684459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Guided tour over the real form, using a fictional sample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040" y="4206240"/>
            <a:ext cx="8503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Six views in one workbench: Case details, Readiness brief, Argument paths, Decision tree, Courtroom, Research &amp; sources. Implemented screens, not mock-ups.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20040" y="1783080"/>
            <a:ext cx="160020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User's browser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Workbench (HTML/JS), six views, consent gate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1965960" y="2304288"/>
            <a:ext cx="320040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2331720" y="1280160"/>
            <a:ext cx="4251960" cy="2514600"/>
          </a:xfrm>
          <a:prstGeom prst="roundRect">
            <a:avLst>
              <a:gd name="adj" fmla="val 8000"/>
            </a:avLst>
          </a:prstGeom>
          <a:solidFill>
            <a:srgbClr val="F6FBF7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88038"/>
                </a:solidFill>
                <a:latin typeface="Google Sans Flex SemiBold"/>
              </a:rPr>
              <a:t>Google Cloud Run  |  legisimate (europe-west1)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468880" y="169164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Python HTTP server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case API, polling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480560" y="169164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CaseWorkbench controller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3 paths, brief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468880" y="237744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Calendar rules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Python, not the model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480560" y="237744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Quote verifier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passage ID to exact text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468880" y="306324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Legal corpus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SQLite FTS5, built into image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480560" y="306324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Case store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SQLite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6629400" y="2304288"/>
            <a:ext cx="320040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6995160" y="178308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Vertex AI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Google Sans Flex Medium"/>
              </a:rPr>
              <a:t>Gemini 2.5 Flash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Structured research, hearings, brief. Service-account auth, no stored key.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040" y="393192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 SemiBold"/>
              </a:rPr>
              <a:t>Continuous deployment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0040" y="422452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Google Sans Flex SemiBold"/>
              </a:rPr>
              <a:t>GitHub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push to master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2221992" y="4453128"/>
            <a:ext cx="256032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514600" y="422452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Google Sans Flex SemiBold"/>
              </a:rPr>
              <a:t>Cloud Build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trigger: build + deploy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4416552" y="4453128"/>
            <a:ext cx="256032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709159" y="422452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Google Sans Flex SemiBold"/>
              </a:rPr>
              <a:t>Artifact Registry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container image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6611112" y="4453128"/>
            <a:ext cx="256032" cy="201168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6903719" y="422452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Google Sans Flex SemiBold"/>
              </a:rPr>
              <a:t>Cloud Run</a:t>
            </a:r>
          </a:p>
          <a:p>
            <a:pPr algn="ctr"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new revision, public URL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20040" y="1325880"/>
            <a:ext cx="2724912" cy="3520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73E8"/>
                </a:solidFill>
                <a:latin typeface="Google Sans Flex SemiBold"/>
              </a:rPr>
              <a:t>Google Cloud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Vertex AI: Gemini 2.5 Flash with structured JSON output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Cloud Run: serverless container, scales to zero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Cloud Build: CI/CD trigger on GitHub master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Artifact Registry: container images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Also supports a Google AI Studio Gemini API key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182112" y="1325880"/>
            <a:ext cx="2724912" cy="3520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88038"/>
                </a:solidFill>
                <a:latin typeface="Google Sans Flex SemiBold"/>
              </a:rPr>
              <a:t>Backend and AI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Python 3.12, standard-library HTTP server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Pydantic schemas for model output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SQLite FTS5 (BM25) legal retrieval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PyArrow: Parquet slice of vaquill/open-india-law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Deterministic statutory calendar engine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044183" y="1325880"/>
            <a:ext cx="2724912" cy="3520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E37400"/>
                </a:solidFill>
                <a:latin typeface="Google Sans Flex SemiBold"/>
              </a:rPr>
              <a:t>Frontend and delivery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HTML, CSS and vanilla JavaScript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Cytoscape.js decision tree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Lucide icons, IBM Plex Sans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2.5D courtroom replay renderer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Docker image (python:3.12-slim)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20040" y="132588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Hosting: Cloud Run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Request-based billing with 0 minimum instances, so nothing runs while idle. 1 vCPU / 512 MiB per instance. The legal index ships inside the image, so there is no database to pay for.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17720" y="132588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Build and storage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Cloud Build runs only on a push to master (about 2.5 minutes per build). One container image kept in Artifact Registry.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20040" y="2807208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AI usage: Gemini 2.5 Flash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 main variable cost, billed per token at Vertex AI list prices. Each analysis has a hard ceiling: 72 model calls by default, 93 at maximum depth.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17720" y="2807208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Google Sans Flex SemiBold"/>
              </a:rPr>
              <a:t>Cost controls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Consent gate before any model call; one analysis at a time; the call budget is shown before submission; showcase cases replay with zero model calls.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Per-analysis token spend has not been measured yet; it is the next cost benchmark. No fixed infrastructure cost while idle.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bri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80160"/>
            <a:ext cx="2743200" cy="15430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20040" y="284149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Readiness brief</a:t>
            </a:r>
          </a:p>
        </p:txBody>
      </p:sp>
      <p:pic>
        <p:nvPicPr>
          <p:cNvPr id="138" name="Picture 137" descr="path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280160"/>
            <a:ext cx="2743200" cy="15430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3200400" y="284149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Argument paths</a:t>
            </a:r>
          </a:p>
        </p:txBody>
      </p:sp>
      <p:pic>
        <p:nvPicPr>
          <p:cNvPr id="140" name="Picture 139" descr="resear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1280160"/>
            <a:ext cx="2743200" cy="15430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6080759" y="284149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Research and sources</a:t>
            </a:r>
          </a:p>
        </p:txBody>
      </p:sp>
      <p:pic>
        <p:nvPicPr>
          <p:cNvPr id="142" name="Picture 141" descr="tre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136391"/>
            <a:ext cx="2743200" cy="15430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320040" y="4697729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Decision tree</a:t>
            </a:r>
          </a:p>
        </p:txBody>
      </p:sp>
      <p:pic>
        <p:nvPicPr>
          <p:cNvPr id="144" name="Picture 143" descr="cour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3136391"/>
            <a:ext cx="2743200" cy="15430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3200400" y="4697729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Courtroom rehearsal</a:t>
            </a:r>
          </a:p>
        </p:txBody>
      </p:sp>
      <p:pic>
        <p:nvPicPr>
          <p:cNvPr id="146" name="Picture 145" descr="sampl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3136391"/>
            <a:ext cx="2743200" cy="15430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7" name="TextBox 146"/>
          <p:cNvSpPr txBox="1"/>
          <p:nvPr/>
        </p:nvSpPr>
        <p:spPr>
          <a:xfrm>
            <a:off x="6080759" y="4697729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Case details and calendar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320040" y="1298448"/>
          <a:ext cx="8503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126480"/>
              </a:tblGrid>
              <a:tr h="3886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Google Sans Flex SemiBold"/>
                        </a:rPr>
                        <a:t>Check</a:t>
                      </a:r>
                    </a:p>
                  </a:txBody>
                  <a:tcPr marL="91440" marR="91440" marT="36576" marB="36576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Google Sans Flex SemiBold"/>
                        </a:rPr>
                        <a:t>Result</a:t>
                      </a:r>
                    </a:p>
                  </a:txBody>
                  <a:tcPr marL="91440" marR="91440" marT="36576" marB="36576" anchor="ctr">
                    <a:solidFill>
                      <a:srgbClr val="20212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 SemiBold"/>
                        </a:rPr>
                        <a:t>Automated tests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"/>
                        </a:rPr>
                        <a:t>124 / 124 backend tests passed, plus Node graph and playback checks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 SemiBold"/>
                        </a:rPr>
                        <a:t>Full live hearing run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"/>
                        </a:rPr>
                        <a:t>69 statements, 10 participants, 73 of 75 allowed calls, 206 / 206 quotes matched source text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 SemiBold"/>
                        </a:rPr>
                        <a:t>Gemini 2.5 Flash showcase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"/>
                        </a:rPr>
                        <a:t>27 / 27 quotes verified across 9 statements and 3 independent paths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 SemiBold"/>
                        </a:rPr>
                        <a:t>Corpus-grounded fallback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"/>
                        </a:rPr>
                        <a:t>66 actions end to end, 132 / 132 quotes matched source text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 SemiBold"/>
                        </a:rPr>
                        <a:t>Legal index build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"/>
                        </a:rPr>
                        <a:t>About 1.5 s from 11.8 MB of Parquet; built into the container image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 SemiBold"/>
                        </a:rPr>
                        <a:t>Deploy pipeline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"/>
                        </a:rPr>
                        <a:t>GitHub push to live Cloud Run revision in about 2.5 minutes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 SemiBold"/>
                        </a:rPr>
                        <a:t>UI stress and layout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Google Sans Flex"/>
                        </a:rPr>
                        <a:t>12 participants / 87 statements; checked at 390 px mobile and 1440 px desktop</a:t>
                      </a:r>
                    </a:p>
                  </a:txBody>
                  <a:tcPr marL="91440" marR="91440" marT="36576" marB="36576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Integration and provenance checks. Matching a quote to its source does not prove the legal reasoning is right; legal accuracy needs qualified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20040" y="1325880"/>
            <a:ext cx="4160520" cy="3520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73E8"/>
                </a:solidFill>
                <a:latin typeface="Google Sans Flex SemiBold"/>
              </a:rPr>
              <a:t>Next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Read PDFs and photos of return memos and notices (OCR)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Qualified legal evaluation and user studies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Measure Gemini cost and latency per analysis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Evaluate hybrid (embedding + BM25) retrieval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Secure multi-user accounts and retention controls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Indian languages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663440" y="1325880"/>
            <a:ext cx="4160520" cy="3520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88038"/>
                </a:solidFill>
                <a:latin typeface="Google Sans Flex SemiBold"/>
              </a:rPr>
              <a:t>Vision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Constitutions, legislation, regulations and case law for every country with a constitution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Versioned jurisdiction packs from authoritative, rights-cleared sources (Akoma Ntoso, ELI, USLM)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Country-specific rules and local evaluation before each release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Same engine: code for deadlines, Gemini for reasoning, verified sources</a:t>
            </a:r>
          </a:p>
          <a:p>
            <a:pPr algn="l" marL="201168" indent="-201168">
              <a:spcAft>
                <a:spcPts val="600"/>
              </a:spcAft>
              <a:buFont typeface="Google Sans Flex"/>
              <a:buChar char="●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Never a promised win: preparation, human judgement, inspectable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sz="1400" b="0">
                <a:solidFill>
                  <a:srgbClr val="202124"/>
                </a:solidFill>
                <a:latin typeface="Google Sans Flex Medium"/>
              </a:rPr>
              <a:t>: </a:t>
            </a:r>
            <a:r>
              <a:rPr sz="1400" b="0">
                <a:solidFill>
                  <a:srgbClr val="1A73E8"/>
                </a:solidFill>
                <a:latin typeface="Google Sans Flex"/>
                <a:hlinkClick r:id="rId5"/>
              </a:rPr>
              <a:t>https://github.com/venunayira/LegisiMate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sz="1400" b="0">
                <a:solidFill>
                  <a:srgbClr val="202124"/>
                </a:solidFill>
                <a:latin typeface="Google Sans Flex Medium"/>
              </a:rPr>
              <a:t>: </a:t>
            </a:r>
            <a:r>
              <a:rPr sz="1400" b="0">
                <a:solidFill>
                  <a:srgbClr val="1A73E8"/>
                </a:solidFill>
                <a:latin typeface="Google Sans Flex"/>
                <a:hlinkClick r:id="rId6"/>
              </a:rPr>
              <a:t>https://youtu.be/-pd5MmUemtE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sz="1400" b="0">
                <a:solidFill>
                  <a:srgbClr val="202124"/>
                </a:solidFill>
                <a:latin typeface="Google Sans Flex Medium"/>
              </a:rPr>
              <a:t>: </a:t>
            </a:r>
            <a:r>
              <a:rPr sz="1400" b="0">
                <a:solidFill>
                  <a:srgbClr val="1A73E8"/>
                </a:solidFill>
                <a:latin typeface="Google Sans Flex"/>
                <a:hlinkClick r:id="rId7"/>
              </a:rPr>
              <a:t>https://legisimate-587527883402.europe-west1.run.app/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